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76" r:id="rId3"/>
    <p:sldId id="264" r:id="rId4"/>
    <p:sldId id="266" r:id="rId5"/>
    <p:sldId id="275" r:id="rId6"/>
    <p:sldId id="267" r:id="rId7"/>
    <p:sldId id="271" r:id="rId8"/>
    <p:sldId id="274" r:id="rId9"/>
    <p:sldId id="269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A1557-3A7F-4F8B-82B8-C2DBF057142E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30441-A2B1-422E-B397-31A5DC675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2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30441-A2B1-422E-B397-31A5DC6754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75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38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83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71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3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6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16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4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83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3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23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9172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91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8811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590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62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83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73B9B-7307-4746-96A1-BD6E296CAD7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0F8E149-CE3F-469D-A311-3EB4AE2EE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18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2171E0-FDFD-4E91-A822-964F0AB81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60319"/>
            <a:ext cx="9144000" cy="3629465"/>
          </a:xfrm>
        </p:spPr>
        <p:txBody>
          <a:bodyPr>
            <a:normAutofit lnSpcReduction="10000"/>
          </a:bodyPr>
          <a:lstStyle/>
          <a:p>
            <a:pPr algn="ctr"/>
            <a:r>
              <a:rPr lang="id-ID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VISI MABAIZ</a:t>
            </a:r>
          </a:p>
          <a:p>
            <a:pPr algn="l"/>
            <a:r>
              <a:rPr lang="id-ID" sz="4000">
                <a:latin typeface="Times New Roman" panose="02020603050405020304" pitchFamily="18" charset="0"/>
                <a:cs typeface="Times New Roman" panose="02020603050405020304" pitchFamily="18" charset="0"/>
              </a:rPr>
              <a:t>Menjadi madrasah tahfidz dan bahasa arab yang berkualitas yang mampu mencetak generasi penghafal al-qur’an yang mutqin dengan kompetensi bahasa arab dasar yang baik.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5353EF-690D-4DE8-9622-4B07CDAEC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859" y="160111"/>
            <a:ext cx="2968282" cy="217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0310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582D6-C60C-5B1A-3052-DA7390F63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D6784-E258-A3AF-0AB8-0A76FDF62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JUZ SELAMA 3 TAHUN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8E8BA-2B65-E478-1F34-7B477AD6B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id-ID" sz="4000"/>
              <a:t>Setiap tahun santri wajib menghafal 5 juz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4000"/>
              <a:t>Setiap semester (5 bulan) wajib menghafal 1 ½ juz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4000"/>
              <a:t>Setiap bulan santri wajib menghafal ½ juz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4000"/>
              <a:t>Setiap pekan santri wajib menghafal 2 ½ halaman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4000"/>
              <a:t>Setiap hari santri wajib menghafal ½ halaman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2474485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E056B-BEF4-4134-BF83-86DFAC25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WAKTU MENGHAFAL SANTRI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AAD0E-A258-4717-849E-27D73BB0C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id-ID" sz="4000"/>
              <a:t>Ba’da sholat tahajjud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4000"/>
              <a:t>Ba’da subuh – 06.30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4000"/>
              <a:t>Jam 10.00 – 11.30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4000"/>
              <a:t>Ba’da ashar – 17.00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4000"/>
              <a:t>Ba’da isya – 21.00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3920037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A0657-3725-4A7A-9250-9207F9ED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799" y="189914"/>
            <a:ext cx="8596668" cy="1320800"/>
          </a:xfrm>
        </p:spPr>
        <p:txBody>
          <a:bodyPr/>
          <a:lstStyle/>
          <a:p>
            <a:pPr algn="ctr"/>
            <a:r>
              <a:rPr 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SOP ZIYADAH</a:t>
            </a:r>
            <a:br>
              <a:rPr 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40% Ziyadah dan 60% Murojaah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EA67A-0ED8-4BB9-B8C8-4629895D6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702"/>
            <a:ext cx="10515600" cy="5275384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id-ID" sz="3900" dirty="0"/>
              <a:t>Santri membaca ayat/halaman yang akan dihafal minimal 40 kali pengulangan, dengan rincian :</a:t>
            </a:r>
          </a:p>
          <a:p>
            <a:pPr marL="342900" lvl="0" indent="-342900" algn="just" rtl="0">
              <a:lnSpc>
                <a:spcPct val="150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id-ID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Pengulangan pertama untuk melancarkan bacaan, baik tajwid, makhroj dan sifat huruf.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 rtl="0">
              <a:lnSpc>
                <a:spcPct val="150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id-ID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Pengulangan kedua, setelah lancar maka santri baru mulai untuk menghafal.</a:t>
            </a:r>
            <a:endParaRPr lang="id-ID" sz="3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 rtl="0">
              <a:lnSpc>
                <a:spcPct val="150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id-ID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Apabila santri merasa telah hafal, sebelum disetorkan ke musyrif/ah wajib disetorkan terlibih dahulu kepada temannya.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id-ID" sz="4000" dirty="0"/>
          </a:p>
          <a:p>
            <a:pPr marL="514350" indent="-514350">
              <a:buFont typeface="+mj-lt"/>
              <a:buAutoNum type="arabicPeriod"/>
            </a:pPr>
            <a:endParaRPr lang="id-ID" sz="4000" dirty="0"/>
          </a:p>
          <a:p>
            <a:pPr marL="514350" indent="-514350">
              <a:buFont typeface="+mj-lt"/>
              <a:buAutoNum type="arabicPeriod"/>
            </a:pPr>
            <a:endParaRPr lang="id-ID" sz="4000" dirty="0"/>
          </a:p>
          <a:p>
            <a:pPr marL="514350" indent="-514350">
              <a:buFont typeface="+mj-lt"/>
              <a:buAutoNum type="arabicPeriod"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56053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3FCE4-6F22-5785-A85B-915A2944D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0BD6F-90B9-EFE3-25C5-E795C3909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799" y="189914"/>
            <a:ext cx="8596668" cy="1320800"/>
          </a:xfrm>
        </p:spPr>
        <p:txBody>
          <a:bodyPr/>
          <a:lstStyle/>
          <a:p>
            <a:pPr algn="ctr"/>
            <a:r>
              <a:rPr 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SOP ZIYADAH</a:t>
            </a:r>
            <a:br>
              <a:rPr 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40% Ziyadah dan 60% Murojaah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72BB4-DC8F-8E88-6DA0-06CB5A95F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702"/>
            <a:ext cx="10515600" cy="527538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id-ID" sz="3900" dirty="0"/>
              <a:t>2. Santri menyetorkan 1 halaman sekali setoran.</a:t>
            </a:r>
          </a:p>
          <a:p>
            <a:pPr marL="0" indent="0">
              <a:buNone/>
            </a:pPr>
            <a:r>
              <a:rPr lang="id-ID" sz="3900" dirty="0"/>
              <a:t>3. Maksimal 3 kesalahan pada setiap halaman.</a:t>
            </a:r>
          </a:p>
          <a:p>
            <a:pPr marL="0" indent="0">
              <a:buNone/>
            </a:pPr>
            <a:r>
              <a:rPr lang="id-ID" sz="3900" dirty="0"/>
              <a:t>4. Sebelum melanjutkan hafalan baru santri wajib  	memurojaah dari halaman 1A.</a:t>
            </a:r>
          </a:p>
          <a:p>
            <a:pPr marL="0" indent="0">
              <a:buNone/>
            </a:pPr>
            <a:r>
              <a:rPr lang="id-ID" sz="3900" dirty="0"/>
              <a:t>5. Apabila hafalan santri sudah sampai 5B, maka 	santri memurojaahnya dari 6A.</a:t>
            </a:r>
          </a:p>
          <a:p>
            <a:pPr marL="0" indent="0">
              <a:buNone/>
            </a:pPr>
            <a:r>
              <a:rPr lang="id-ID" sz="3900" dirty="0"/>
              <a:t>6. Musyrif/ah melakukan evaluasi setiap malam 	(halaqoh ba’da isya)</a:t>
            </a:r>
          </a:p>
          <a:p>
            <a:pPr marL="514350" indent="-514350">
              <a:buFont typeface="+mj-lt"/>
              <a:buAutoNum type="arabicPeriod"/>
            </a:pPr>
            <a:endParaRPr lang="id-ID" sz="4000" dirty="0"/>
          </a:p>
          <a:p>
            <a:pPr marL="514350" indent="-514350">
              <a:buFont typeface="+mj-lt"/>
              <a:buAutoNum type="arabicPeriod"/>
            </a:pPr>
            <a:endParaRPr lang="id-ID" sz="4000" dirty="0"/>
          </a:p>
          <a:p>
            <a:pPr marL="514350" indent="-514350">
              <a:buFont typeface="+mj-lt"/>
              <a:buAutoNum type="arabicPeriod"/>
            </a:pPr>
            <a:endParaRPr lang="id-ID" sz="4000" dirty="0"/>
          </a:p>
          <a:p>
            <a:pPr marL="514350" indent="-514350">
              <a:buFont typeface="+mj-lt"/>
              <a:buAutoNum type="arabicPeriod"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25875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9203-8C5C-442D-B63E-E87701E12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SOP MUROJAAH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182BA-F3DA-477A-AAFE-6674374FE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080" y="2317995"/>
            <a:ext cx="7700889" cy="33231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id-ID" sz="4000" dirty="0"/>
              <a:t>Hafalan Baru 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d-ID" sz="4000" dirty="0"/>
              <a:t> Setiap selesai ziyadah, sampai 10 halaman</a:t>
            </a:r>
          </a:p>
          <a:p>
            <a:pPr marL="0" indent="0">
              <a:buNone/>
            </a:pPr>
            <a:endParaRPr lang="id-ID" sz="4000" dirty="0"/>
          </a:p>
        </p:txBody>
      </p:sp>
    </p:spTree>
    <p:extLst>
      <p:ext uri="{BB962C8B-B14F-4D97-AF65-F5344CB8AC3E}">
        <p14:creationId xmlns:p14="http://schemas.microsoft.com/office/powerpoint/2010/main" val="283794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9203-8C5C-442D-B63E-E87701E12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881"/>
            <a:ext cx="10515600" cy="1294227"/>
          </a:xfrm>
        </p:spPr>
        <p:txBody>
          <a:bodyPr/>
          <a:lstStyle/>
          <a:p>
            <a:pPr algn="ctr"/>
            <a:r>
              <a:rPr lang="id-ID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SOP MUROJAAH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182BA-F3DA-477A-AAFE-6674374FE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108"/>
            <a:ext cx="10515600" cy="469985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id-ID" sz="4000"/>
              <a:t>Hafalan Lama:</a:t>
            </a:r>
          </a:p>
          <a:p>
            <a:pPr marL="0" indent="0">
              <a:buNone/>
            </a:pPr>
            <a:endParaRPr lang="id-ID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5DC8ED-A211-43C2-8924-932BCDE37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651433"/>
              </p:ext>
            </p:extLst>
          </p:nvPr>
        </p:nvGraphicFramePr>
        <p:xfrm>
          <a:off x="970670" y="2405575"/>
          <a:ext cx="10255347" cy="4100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215">
                  <a:extLst>
                    <a:ext uri="{9D8B030D-6E8A-4147-A177-3AD203B41FA5}">
                      <a16:colId xmlns:a16="http://schemas.microsoft.com/office/drawing/2014/main" val="392800500"/>
                    </a:ext>
                  </a:extLst>
                </a:gridCol>
                <a:gridCol w="2850565">
                  <a:extLst>
                    <a:ext uri="{9D8B030D-6E8A-4147-A177-3AD203B41FA5}">
                      <a16:colId xmlns:a16="http://schemas.microsoft.com/office/drawing/2014/main" val="1096680502"/>
                    </a:ext>
                  </a:extLst>
                </a:gridCol>
                <a:gridCol w="2708923">
                  <a:extLst>
                    <a:ext uri="{9D8B030D-6E8A-4147-A177-3AD203B41FA5}">
                      <a16:colId xmlns:a16="http://schemas.microsoft.com/office/drawing/2014/main" val="4260864309"/>
                    </a:ext>
                  </a:extLst>
                </a:gridCol>
                <a:gridCol w="3987644">
                  <a:extLst>
                    <a:ext uri="{9D8B030D-6E8A-4147-A177-3AD203B41FA5}">
                      <a16:colId xmlns:a16="http://schemas.microsoft.com/office/drawing/2014/main" val="3527505936"/>
                    </a:ext>
                  </a:extLst>
                </a:gridCol>
              </a:tblGrid>
              <a:tr h="900333">
                <a:tc>
                  <a:txBody>
                    <a:bodyPr/>
                    <a:lstStyle/>
                    <a:p>
                      <a:pPr algn="ctr"/>
                      <a:r>
                        <a:rPr lang="id-ID" sz="3200"/>
                        <a:t>No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3200"/>
                        <a:t>Jumlah Juz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3200"/>
                        <a:t>Setiap Hari Murojah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3200"/>
                        <a:t>Waktu Murojaah</a:t>
                      </a:r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839541"/>
                  </a:ext>
                </a:extLst>
              </a:tr>
              <a:tr h="900333">
                <a:tc>
                  <a:txBody>
                    <a:bodyPr/>
                    <a:lstStyle/>
                    <a:p>
                      <a:r>
                        <a:rPr lang="id-ID" sz="3200"/>
                        <a:t>1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3200"/>
                        <a:t>1 sampai 5 juz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3200"/>
                        <a:t>1 juz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3200"/>
                        <a:t>Ba’da isya</a:t>
                      </a:r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663484"/>
                  </a:ext>
                </a:extLst>
              </a:tr>
              <a:tr h="900333">
                <a:tc>
                  <a:txBody>
                    <a:bodyPr/>
                    <a:lstStyle/>
                    <a:p>
                      <a:r>
                        <a:rPr lang="id-ID" sz="3200"/>
                        <a:t>2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3200"/>
                        <a:t>6 sampai 10 juz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3200"/>
                        <a:t>2 juz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3200"/>
                        <a:t>Ba’da isya dan ashar</a:t>
                      </a:r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8325"/>
                  </a:ext>
                </a:extLst>
              </a:tr>
              <a:tr h="900333">
                <a:tc>
                  <a:txBody>
                    <a:bodyPr/>
                    <a:lstStyle/>
                    <a:p>
                      <a:r>
                        <a:rPr lang="id-ID" sz="3200"/>
                        <a:t>3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3200"/>
                        <a:t>11 sampai 15 juz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3200"/>
                        <a:t>3 juz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3200"/>
                        <a:t>Ba’da isya, ashar dan jam 10.00</a:t>
                      </a:r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486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591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A0833-AEA4-4296-936E-8644FBC63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SOP MUROJAAH (liburan)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50586-E472-42FD-9AC0-9E8ABA409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id-ID" sz="4000" dirty="0"/>
              <a:t>Ketika Liburan: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4000" dirty="0"/>
              <a:t>Santri wajib murojaah 2 juz setiap hari, kecuali hari ahad.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4000" dirty="0"/>
              <a:t>Orang tua minimal mengecek lembar kontrol murojaah setiap malam dan memberikan paraf.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4000" dirty="0"/>
              <a:t>Ketika liburan panjang, santri wajib setoran setiap hari senin dan kamis kepada musyrif dan musyrifah.</a:t>
            </a:r>
          </a:p>
        </p:txBody>
      </p:sp>
    </p:spTree>
    <p:extLst>
      <p:ext uri="{BB962C8B-B14F-4D97-AF65-F5344CB8AC3E}">
        <p14:creationId xmlns:p14="http://schemas.microsoft.com/office/powerpoint/2010/main" val="2496296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A0657-3725-4A7A-9250-9207F9ED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 UJIAN TAHFIDZ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EA67A-0ED8-4BB9-B8C8-4629895D6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id-ID" sz="4000" dirty="0"/>
              <a:t>Setengah juz, waktunya 1 hari sapai 3 hari.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4000" dirty="0"/>
              <a:t>Juziyyah (1 juz), waktunya 3 hari sampai 1 pekan.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4000" dirty="0"/>
              <a:t>Syahadah ( 5 juz), waktunya 1 pekan sampai 1 bulan.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83463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37D5A-E58A-4906-BA07-52273C937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MASALAH HAFALAN SANTRI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11D07-6BA0-4E53-89C0-22E4B5B97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5343"/>
            <a:ext cx="8596668" cy="45960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id-ID" sz="3200" dirty="0"/>
          </a:p>
          <a:p>
            <a:pPr marL="514350" indent="-514350">
              <a:buFont typeface="+mj-lt"/>
              <a:buAutoNum type="arabicPeriod"/>
            </a:pPr>
            <a:r>
              <a:rPr lang="id-ID" sz="3200" dirty="0"/>
              <a:t>Ketika pulang kerumah karena idzin dan sakit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3200" dirty="0"/>
              <a:t>Ketika liburan:</a:t>
            </a:r>
          </a:p>
          <a:p>
            <a:pPr marL="514350" indent="-514350">
              <a:buFont typeface="+mj-lt"/>
              <a:buAutoNum type="alphaLcParenR"/>
            </a:pPr>
            <a:r>
              <a:rPr lang="id-ID" sz="3200" dirty="0"/>
              <a:t>Tidak murojaah sebagaimana di pondok</a:t>
            </a:r>
          </a:p>
          <a:p>
            <a:pPr marL="514350" indent="-514350">
              <a:buFont typeface="+mj-lt"/>
              <a:buAutoNum type="alphaLcParenR"/>
            </a:pPr>
            <a:r>
              <a:rPr lang="id-ID" sz="3200" dirty="0"/>
              <a:t>Pengaruh pergaulan dengan teman-temannya</a:t>
            </a:r>
          </a:p>
          <a:p>
            <a:pPr marL="514350" indent="-514350">
              <a:buFont typeface="+mj-lt"/>
              <a:buAutoNum type="alphaLcParenR"/>
            </a:pPr>
            <a:r>
              <a:rPr lang="id-ID" sz="3200" dirty="0"/>
              <a:t>HP: Game Online, interaksi dengan lawan jenis dan pornografi</a:t>
            </a:r>
          </a:p>
        </p:txBody>
      </p:sp>
    </p:spTree>
    <p:extLst>
      <p:ext uri="{BB962C8B-B14F-4D97-AF65-F5344CB8AC3E}">
        <p14:creationId xmlns:p14="http://schemas.microsoft.com/office/powerpoint/2010/main" val="1301634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B7627-207A-4697-96F9-31F842235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DOA ADALAH SENJATA UTAMA ORANG BERIMAN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ECAEA-7D2B-4E03-8736-03E819B79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id-ID" sz="4000"/>
              <a:t>Setiap santri wajib berdoa sebelum dan sesudah menghafal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4000"/>
              <a:t>Setiap ustadz dan ustadzah mendoakan santrinya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4000"/>
              <a:t>Orang tua di rumah selalu mendoakan anaknya agar Allah berikan kemudahan dalam mengahafal Al-Qur’an.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14326739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552</TotalTime>
  <Words>453</Words>
  <Application>Microsoft Office PowerPoint</Application>
  <PresentationFormat>Widescreen</PresentationFormat>
  <Paragraphs>71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Calibri</vt:lpstr>
      <vt:lpstr>Courier New</vt:lpstr>
      <vt:lpstr>Times New Roman</vt:lpstr>
      <vt:lpstr>Trebuchet MS</vt:lpstr>
      <vt:lpstr>Wingdings</vt:lpstr>
      <vt:lpstr>Wingdings 3</vt:lpstr>
      <vt:lpstr>Facet</vt:lpstr>
      <vt:lpstr>PowerPoint Presentation</vt:lpstr>
      <vt:lpstr>15 JUZ SELAMA 3 TAHUN</vt:lpstr>
      <vt:lpstr>WAKTU MENGHAFAL SANTRI</vt:lpstr>
      <vt:lpstr>SOP ZIYADAH 40% Ziyadah dan 60% Murojaah</vt:lpstr>
      <vt:lpstr>SOP ZIYADAH 40% Ziyadah dan 60% Murojaah</vt:lpstr>
      <vt:lpstr>SOP MUROJAAH</vt:lpstr>
      <vt:lpstr>SOP MUROJAAH</vt:lpstr>
      <vt:lpstr>SOP MUROJAAH (liburan)</vt:lpstr>
      <vt:lpstr>POS UJIAN TAHFIDZ</vt:lpstr>
      <vt:lpstr>MASALAH HAFALAN SANTRI</vt:lpstr>
      <vt:lpstr>DOA ADALAH SENJATA UTAMA ORANG BERIMAN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بِسْمِ الله الرَّحْمنِ الرَّحِيمِ</dc:title>
  <dc:creator>Administrator</dc:creator>
  <cp:lastModifiedBy>mabaiz</cp:lastModifiedBy>
  <cp:revision>20</cp:revision>
  <dcterms:created xsi:type="dcterms:W3CDTF">2024-06-15T22:55:57Z</dcterms:created>
  <dcterms:modified xsi:type="dcterms:W3CDTF">2025-07-10T02:40:42Z</dcterms:modified>
</cp:coreProperties>
</file>
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9EA7-EAD3-4832-8DE3-F7B903C70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357AC-D71E-4813-8966-AA4651CC3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6BDE2-CBAC-413F-BFC5-10390FD6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CC1DA-8239-4B88-BCC6-A6CCDA17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88DC5-5616-416E-90DC-E6FEF765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04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A11E-2A64-4959-8E64-E652E9DF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3DAC6-66E3-4BF9-9739-7A7883B62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A0C42-B9BE-4891-89AF-4F607BBA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21874-4C5E-452C-82D2-04882EC5F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8BA3E-A8B3-43C1-89A0-4B2570B9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9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57E5-6927-479B-B418-D4A783CD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FBAE0-43F6-4176-A896-003E25F42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9BF0C-FF18-4251-B051-BD04D20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0015B-0588-48D6-9F09-5A432231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70132-361F-42EB-BD23-0D3A804C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6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79B9-4336-4B86-B1E6-BBC6294D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84C79-9EFF-4B7A-8FDF-995C87F25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DB0F1-59CB-4D34-A71E-24AF27740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FC92A-9446-4C90-980E-80B4B56D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EB9F0-FB0D-4A2D-B2C5-F445A45B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CB706-2304-4D5B-83FD-7EE8A7A8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47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8421-6331-4211-AB9D-57EE1BBE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2D8E3-5975-4328-A4C9-6FA68C254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A48E3-DFD7-4C16-836C-D02B9264C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56FE21-B49A-4953-B816-4C7A99CCF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F6A0D-A679-4624-B39E-52D55102D3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3FE97-0249-4932-A321-D6540EE1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EFCC4-821A-4DD8-B1FE-ADBB06EA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247AC-24B2-4E5A-89E2-17BF05A3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7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4464-48FF-4F61-800F-F722A67B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927EA-2A74-463F-8C1C-DF858B7A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CE527-50DF-41C8-9B37-328FF31E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2EE77-DE9A-4DA9-819B-F0163170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1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3A68E-6839-4EC1-9466-2F11F68D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6B8CAB-F8F9-4881-B2CE-08A4D471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09D3F-53FC-4904-8985-E713FFB2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0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DFFB-CF6E-4C0D-B932-DF5AE832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D2717-9938-45D9-B7AE-C865F30DA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9CFCE-3C8D-4969-8C36-7E202BF26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29117-0EA0-41A4-9110-0DEA2643A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BCC8B-903C-4627-8B6D-EB8446DB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9B055-92B0-46B8-A859-72EEC978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4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63778-BEBD-463B-8746-4DA55B9B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876234-EA4D-4EB9-84A2-56C5452E8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556B7-1223-406F-A352-9FD4615FA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19516-7C84-4929-BFC0-6713E481E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872E3-57E4-4648-B91E-09D667763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BA2A9-52E5-4D9E-9880-AA094681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3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2FCF-8DA8-4934-A4D6-DCC1D7FC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9B147-1AFE-4BCB-9F43-1964AB1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917DA-9A50-4E38-A070-C2DCDF07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BC259-B936-4BD8-94F3-E8AEAF2A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F1DE9-D81E-4355-ADF8-51749C18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8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8BBE3B-BBFE-4229-B0DF-B78F07295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6AEEF-D5D1-40BC-BB23-9E81300A7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5DAF0-93C4-4FBD-961F-5F1065EC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4CFCA-933F-4174-BB45-C77CBCF3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DC368-474A-4A73-BF1C-F6263F0C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9F0E1-AA48-4E9F-81A8-3B33D97F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6903A-3F97-4EA0-A5C7-914DF66B7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7CD0F-4786-410B-A797-8EACE3A2C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3349F-B949-41B0-8A88-F8FAA347B227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7ABC-1E97-42A6-8B64-86BD376A3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76A25-5DB9-4157-840B-9F0F67103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5D3B5-D542-4B41-9D25-58D63B48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6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3352800" y="2643514"/>
            <a:ext cx="62798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Job Description</a:t>
            </a: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TUPOKSI, HAK &amp;  TANGGUNG JAWAB.</a:t>
            </a:r>
          </a:p>
        </p:txBody>
      </p:sp>
    </p:spTree>
    <p:extLst>
      <p:ext uri="{BB962C8B-B14F-4D97-AF65-F5344CB8AC3E}">
        <p14:creationId xmlns:p14="http://schemas.microsoft.com/office/powerpoint/2010/main" val="2013459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1912015" y="964912"/>
            <a:ext cx="62798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KEPALA MADRASAH &amp; KURIKULUM</a:t>
            </a: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6708-0C09-4147-B238-A3D495265BE9}"/>
              </a:ext>
            </a:extLst>
          </p:cNvPr>
          <p:cNvSpPr txBox="1"/>
          <p:nvPr/>
        </p:nvSpPr>
        <p:spPr>
          <a:xfrm>
            <a:off x="1901318" y="2120058"/>
            <a:ext cx="801274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PENANGGUNG TERHADAP SELURUH KEGIATAN YANG BERLANGSUNG DI MABAIZ.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MENDISAIN PENDIDIKAN, PEMBELAJARAN DAN KEPENGASUHAN DI LINGKUNGAN MABAIZ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MERANCANG DAN MENGEVALUASI KURIKULUM PEMBELAJARAN YANG AKAN DAN TELAH  BERJALAN DI MABAIZ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MEMIMPIN RAPAT RUTIN BULANAN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MENGEVALUASI SELURUH KEGIATAN DAN PROGRAM YANG BERLANGSUNG DI MABAIZ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MEMBUAT KEBIJAKAN-KEBIJAKAN YANG DIANGGAP PERLU SETELAH BERKOORDINASI DENGAN PIHAK-PIHAK TERKAIT MABAIZ.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bg1"/>
                </a:solidFill>
              </a:rPr>
              <a:t>SETELAH  MENERIMA MASUKAN DAN SARAN DARI PIHAK-PIHAK TERKAIT DI YDT, BERWENANG </a:t>
            </a:r>
            <a:r>
              <a:rPr lang="en-US" dirty="0">
                <a:solidFill>
                  <a:schemeClr val="bg1"/>
                </a:solidFill>
              </a:rPr>
              <a:t>MENGANGKAT, MEREPOSISI DAN MEMBERHENTIKAN JAJARAN </a:t>
            </a:r>
            <a:r>
              <a:rPr lang="en-US">
                <a:solidFill>
                  <a:schemeClr val="bg1"/>
                </a:solidFill>
              </a:rPr>
              <a:t>DILINGKUNGAN MABAIZ. 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1739809" y="687133"/>
            <a:ext cx="62798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SEKRETARIS DAN HUMAS</a:t>
            </a: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6708-0C09-4147-B238-A3D495265BE9}"/>
              </a:ext>
            </a:extLst>
          </p:cNvPr>
          <p:cNvSpPr txBox="1"/>
          <p:nvPr/>
        </p:nvSpPr>
        <p:spPr>
          <a:xfrm>
            <a:off x="2069667" y="1328917"/>
            <a:ext cx="792381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0" i="0" dirty="0">
                <a:solidFill>
                  <a:schemeClr val="bg1"/>
                </a:solidFill>
                <a:effectLst/>
              </a:rPr>
              <a:t> MEMBANTU KETUA DALAM MENGENDALIKAN KEGIATAN ORGANISASI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BERTANGGUNG JAWAB TERHADAP SELURUH OPERASIONAL ADMINISTRASI MABAIZ.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MEMBUAT DAN MERANCANG </a:t>
            </a:r>
            <a:r>
              <a:rPr lang="en-US">
                <a:solidFill>
                  <a:schemeClr val="bg1"/>
                </a:solidFill>
              </a:rPr>
              <a:t>SISTEM ADMINISTRASI </a:t>
            </a:r>
            <a:r>
              <a:rPr lang="en-US" dirty="0">
                <a:solidFill>
                  <a:schemeClr val="bg1"/>
                </a:solidFill>
              </a:rPr>
              <a:t>YANG EFEKTIF DAN EFESIEN UNTUK OPERASIONAL MABAIZ</a:t>
            </a:r>
            <a:endParaRPr lang="fi-FI" b="0" i="0" dirty="0">
              <a:solidFill>
                <a:srgbClr val="333333"/>
              </a:solidFill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MENGHIMPUN DAN MENYAJIKAN DATA ADMINISTRASI YANG AKAN DISAMPAIKAN PADA RAPAT-RAPAT MABAIZ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MENYEDIAKAN BAHAN ADMINISTRASI OPERASIONAL MABAIZ , SEPERTI : CATATAN PERIZINAN, CATATAN KASUS SANTRI, BUKU PRESTASI, FORMAT RAPORT, DLL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MENGINFORMASI DAN MEMPUBLIKASI  KEPUTUSAN MABAIZ YANG TERKAIT DENGAN PIHAK WALI SANTRI DAN EXTERNAL.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BERTANGGUNG JAWAB MEMBANGUN DAN MEMPERTAHANKAN KESAN DAN CITRA YANG BAIK TERHADAP MABAIZ BAIK KEPADA PIHAK EKSTERNAL MAUPUN INTERNAL DENGAN MENYAJIKAN INFORMASI YANG AKURAT DAN MUDAH DIFAHAMI PUBLIK.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64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1739809" y="687133"/>
            <a:ext cx="7629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WAKA KESISWAAN/KESANTRIAN</a:t>
            </a: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6708-0C09-4147-B238-A3D495265BE9}"/>
              </a:ext>
            </a:extLst>
          </p:cNvPr>
          <p:cNvSpPr txBox="1"/>
          <p:nvPr/>
        </p:nvSpPr>
        <p:spPr>
          <a:xfrm>
            <a:off x="2132262" y="1409543"/>
            <a:ext cx="83004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Menyusun dan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mensosialisasikan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tata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tertib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santri</a:t>
            </a:r>
            <a:r>
              <a:rPr lang="en-US" b="0" i="0" dirty="0">
                <a:solidFill>
                  <a:schemeClr val="bg1"/>
                </a:solidFill>
                <a:effectLst/>
              </a:rPr>
              <a:t> yang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akan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diterapkan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kepada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santri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 err="1">
                <a:solidFill>
                  <a:schemeClr val="bg1"/>
                </a:solidFill>
                <a:effectLst/>
              </a:rPr>
              <a:t>Mengatur</a:t>
            </a:r>
            <a:r>
              <a:rPr lang="en-US" b="0" i="0" dirty="0">
                <a:solidFill>
                  <a:schemeClr val="bg1"/>
                </a:solidFill>
                <a:effectLst/>
              </a:rPr>
              <a:t> dan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mengkoordinir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ketertiban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kedisiplinan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, dan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kehadiran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santri</a:t>
            </a:r>
            <a:r>
              <a:rPr lang="en-US" b="0" i="0" dirty="0">
                <a:solidFill>
                  <a:schemeClr val="bg1"/>
                </a:solidFill>
                <a:effectLst/>
              </a:rPr>
              <a:t> di Madrasah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serta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masalah-masalah</a:t>
            </a:r>
            <a:r>
              <a:rPr lang="en-US" b="0" i="0" dirty="0">
                <a:solidFill>
                  <a:schemeClr val="bg1"/>
                </a:solidFill>
                <a:effectLst/>
              </a:rPr>
              <a:t> yang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berhubungan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dengan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hal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tersebut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 err="1">
                <a:solidFill>
                  <a:schemeClr val="bg1"/>
                </a:solidFill>
                <a:effectLst/>
              </a:rPr>
              <a:t>Mengkoordinir</a:t>
            </a:r>
            <a:r>
              <a:rPr lang="en-US" b="0" i="0" dirty="0">
                <a:solidFill>
                  <a:schemeClr val="bg1"/>
                </a:solidFill>
                <a:effectLst/>
              </a:rPr>
              <a:t> program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supervisi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bagi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santri</a:t>
            </a:r>
            <a:r>
              <a:rPr lang="en-US" b="0" i="0" dirty="0">
                <a:solidFill>
                  <a:schemeClr val="bg1"/>
                </a:solidFill>
                <a:effectLst/>
              </a:rPr>
              <a:t> yang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mempunyai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permasalahan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dalam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</a:p>
          <a:p>
            <a:pPr lvl="1" algn="l"/>
            <a:r>
              <a:rPr lang="en-US" b="0" i="0" dirty="0" err="1">
                <a:solidFill>
                  <a:schemeClr val="bg1"/>
                </a:solidFill>
                <a:effectLst/>
              </a:rPr>
              <a:t>Pengajaran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penyesuaian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pribadi</a:t>
            </a:r>
            <a:r>
              <a:rPr lang="en-US" b="0" i="0" dirty="0">
                <a:solidFill>
                  <a:schemeClr val="bg1"/>
                </a:solidFill>
                <a:effectLst/>
              </a:rPr>
              <a:t>, </a:t>
            </a:r>
            <a:r>
              <a:rPr lang="en-US" b="0" i="0" err="1">
                <a:solidFill>
                  <a:schemeClr val="bg1"/>
                </a:solidFill>
                <a:effectLst/>
              </a:rPr>
              <a:t>Penyesuaian</a:t>
            </a:r>
            <a:r>
              <a:rPr lang="en-US" b="0" i="0">
                <a:solidFill>
                  <a:schemeClr val="bg1"/>
                </a:solidFill>
                <a:effectLst/>
              </a:rPr>
              <a:t> sosial</a:t>
            </a:r>
            <a:r>
              <a:rPr lang="en-US" b="0" i="0" dirty="0">
                <a:solidFill>
                  <a:schemeClr val="bg1"/>
                </a:solidFill>
                <a:effectLst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Penyesuaian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emosional</a:t>
            </a:r>
            <a:r>
              <a:rPr lang="en-US" b="0" i="0" dirty="0">
                <a:solidFill>
                  <a:schemeClr val="bg1"/>
                </a:solidFill>
                <a:effectLst/>
              </a:rPr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 err="1">
                <a:solidFill>
                  <a:schemeClr val="bg1"/>
                </a:solidFill>
                <a:effectLst/>
              </a:rPr>
              <a:t>Mengkoordinir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pelaksanaan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program-program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kesantrian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termasuk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didalmnya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yaitu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kegiatan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ekstrakulikuler</a:t>
            </a:r>
            <a:r>
              <a:rPr lang="en-US" b="0" i="0" dirty="0">
                <a:solidFill>
                  <a:schemeClr val="bg1"/>
                </a:solidFill>
                <a:effectLst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Mengkoordinir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mensupervisi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jajaran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musrif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musrifah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bekerja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dibawah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koordinasi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kesantrian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Mendampingi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musrif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musrifah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pemberian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sangsi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hukuman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pelanggaran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dilakukan</a:t>
            </a:r>
            <a:r>
              <a:rPr lang="en-US" dirty="0">
                <a:solidFill>
                  <a:schemeClr val="bg1"/>
                </a:solidFill>
              </a:rPr>
              <a:t> oleh </a:t>
            </a:r>
            <a:r>
              <a:rPr lang="en-US" dirty="0" err="1">
                <a:solidFill>
                  <a:schemeClr val="bg1"/>
                </a:solidFill>
              </a:rPr>
              <a:t>seluruh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Bekerja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bagian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kurikulum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merencanakan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merancang</a:t>
            </a:r>
            <a:r>
              <a:rPr lang="en-US" dirty="0">
                <a:solidFill>
                  <a:schemeClr val="bg1"/>
                </a:solidFill>
              </a:rPr>
              <a:t> program-program </a:t>
            </a:r>
            <a:r>
              <a:rPr lang="en-US" dirty="0" err="1">
                <a:solidFill>
                  <a:schemeClr val="bg1"/>
                </a:solidFill>
              </a:rPr>
              <a:t>kesantrian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Membuat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laporan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terkait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perkembangan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kesantrian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disampaikan</a:t>
            </a:r>
            <a:r>
              <a:rPr lang="en-US" dirty="0">
                <a:solidFill>
                  <a:schemeClr val="bg1"/>
                </a:solidFill>
              </a:rPr>
              <a:t> pada </a:t>
            </a:r>
            <a:r>
              <a:rPr lang="en-US" dirty="0" err="1">
                <a:solidFill>
                  <a:schemeClr val="bg1"/>
                </a:solidFill>
              </a:rPr>
              <a:t>kepada</a:t>
            </a:r>
            <a:r>
              <a:rPr lang="en-US" dirty="0">
                <a:solidFill>
                  <a:schemeClr val="bg1"/>
                </a:solidFill>
              </a:rPr>
              <a:t> ka Madrasah, pada </a:t>
            </a:r>
            <a:r>
              <a:rPr lang="en-US" dirty="0" err="1">
                <a:solidFill>
                  <a:schemeClr val="bg1"/>
                </a:solidFill>
              </a:rPr>
              <a:t>rapat-rapat</a:t>
            </a:r>
            <a:r>
              <a:rPr lang="en-US" dirty="0">
                <a:solidFill>
                  <a:schemeClr val="bg1"/>
                </a:solidFill>
              </a:rPr>
              <a:t> Madrasah.</a:t>
            </a:r>
          </a:p>
        </p:txBody>
      </p:sp>
    </p:spTree>
    <p:extLst>
      <p:ext uri="{BB962C8B-B14F-4D97-AF65-F5344CB8AC3E}">
        <p14:creationId xmlns:p14="http://schemas.microsoft.com/office/powerpoint/2010/main" val="168327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1739809" y="687133"/>
            <a:ext cx="7629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WAKA SARPRAS</a:t>
            </a: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6708-0C09-4147-B238-A3D495265BE9}"/>
              </a:ext>
            </a:extLst>
          </p:cNvPr>
          <p:cNvSpPr txBox="1"/>
          <p:nvPr/>
        </p:nvSpPr>
        <p:spPr>
          <a:xfrm>
            <a:off x="2069667" y="1517374"/>
            <a:ext cx="83004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b="0" i="0" dirty="0" err="1">
                <a:solidFill>
                  <a:schemeClr val="bg1"/>
                </a:solidFill>
                <a:effectLst/>
              </a:rPr>
              <a:t>Membuat</a:t>
            </a:r>
            <a:r>
              <a:rPr lang="en-US" b="0" i="0" dirty="0">
                <a:solidFill>
                  <a:schemeClr val="bg1"/>
                </a:solidFill>
                <a:effectLst/>
              </a:rPr>
              <a:t> dan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menyusun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program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kerja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tahunan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kegiatan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Madrasah di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bidang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sarana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dan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prasarana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dan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mengkoordinir</a:t>
            </a:r>
            <a:r>
              <a:rPr lang="en-US" b="0" i="0" dirty="0">
                <a:solidFill>
                  <a:schemeClr val="bg1"/>
                </a:solidFill>
                <a:effectLst/>
              </a:rPr>
              <a:t> 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pelaksanaannya</a:t>
            </a:r>
            <a:r>
              <a:rPr lang="en-US" b="0" i="0" dirty="0">
                <a:solidFill>
                  <a:schemeClr val="bg1"/>
                </a:solidFill>
                <a:effectLst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0" i="0" dirty="0" err="1">
                <a:solidFill>
                  <a:schemeClr val="bg1"/>
                </a:solidFill>
                <a:effectLst/>
              </a:rPr>
              <a:t>Melakukan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inventarisasi</a:t>
            </a:r>
            <a:r>
              <a:rPr lang="en-US" b="0" i="0" dirty="0">
                <a:solidFill>
                  <a:schemeClr val="bg1"/>
                </a:solidFill>
                <a:effectLst/>
              </a:rPr>
              <a:t> dan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menganalisis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kebutuhan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sarana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dan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prasarana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baik</a:t>
            </a:r>
            <a:r>
              <a:rPr lang="en-US" b="0" i="0" dirty="0">
                <a:solidFill>
                  <a:schemeClr val="bg1"/>
                </a:solidFill>
                <a:effectLst/>
              </a:rPr>
              <a:t> yang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berhubungan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langsung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dengan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kelancaran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KBM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atau</a:t>
            </a:r>
            <a:r>
              <a:rPr lang="en-US" b="0" i="0" dirty="0">
                <a:solidFill>
                  <a:schemeClr val="bg1"/>
                </a:solidFill>
                <a:effectLst/>
              </a:rPr>
              <a:t> yang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bersifat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mendukung</a:t>
            </a:r>
            <a:r>
              <a:rPr lang="en-US" b="0" i="0" dirty="0">
                <a:solidFill>
                  <a:schemeClr val="bg1"/>
                </a:solidFill>
                <a:effectLst/>
              </a:rPr>
              <a:t> KBM.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0" i="0" dirty="0" err="1">
                <a:solidFill>
                  <a:schemeClr val="bg1"/>
                </a:solidFill>
                <a:effectLst/>
              </a:rPr>
              <a:t>Melakukan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inventarisasi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terhadap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keberadaan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sarana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dan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prasarana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secara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berkala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untuk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kemudian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dilakukan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pemilahan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apakah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barang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itu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layak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pakai</a:t>
            </a:r>
            <a:r>
              <a:rPr lang="en-US" b="0" i="0" dirty="0">
                <a:solidFill>
                  <a:schemeClr val="bg1"/>
                </a:solidFill>
                <a:effectLst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habis</a:t>
            </a:r>
            <a:r>
              <a:rPr lang="en-US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pakai</a:t>
            </a:r>
            <a:r>
              <a:rPr lang="en-US" b="0" i="0" dirty="0">
                <a:solidFill>
                  <a:schemeClr val="bg1"/>
                </a:solidFill>
                <a:effectLst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</a:rPr>
              <a:t>dsb</a:t>
            </a:r>
            <a:r>
              <a:rPr lang="en-US" b="0" i="0" dirty="0">
                <a:solidFill>
                  <a:schemeClr val="bg1"/>
                </a:solidFill>
                <a:effectLst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Setelah </a:t>
            </a:r>
            <a:r>
              <a:rPr lang="en-US" dirty="0" err="1">
                <a:solidFill>
                  <a:schemeClr val="bg1"/>
                </a:solidFill>
              </a:rPr>
              <a:t>berkoordinasi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kepala</a:t>
            </a:r>
            <a:r>
              <a:rPr lang="en-US" dirty="0">
                <a:solidFill>
                  <a:schemeClr val="bg1"/>
                </a:solidFill>
              </a:rPr>
              <a:t> madrasah, </a:t>
            </a:r>
            <a:r>
              <a:rPr lang="en-US" dirty="0" err="1">
                <a:solidFill>
                  <a:schemeClr val="bg1"/>
                </a:solidFill>
              </a:rPr>
              <a:t>mengeksekusi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perencanaan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berupa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pembangunan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maupun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pengadaan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sarpras</a:t>
            </a:r>
            <a:r>
              <a:rPr lang="en-US" dirty="0">
                <a:solidFill>
                  <a:schemeClr val="bg1"/>
                </a:solidFill>
              </a:rPr>
              <a:t> Madrasah.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Mengkoordinir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kegiatan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pemeliharaan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rehabilitasi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seluruh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sarpras</a:t>
            </a:r>
            <a:r>
              <a:rPr lang="en-US" dirty="0">
                <a:solidFill>
                  <a:schemeClr val="bg1"/>
                </a:solidFill>
              </a:rPr>
              <a:t> Madrasah.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Membuat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laporan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secara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berkala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disampaikan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kepala</a:t>
            </a:r>
            <a:r>
              <a:rPr lang="en-US" dirty="0">
                <a:solidFill>
                  <a:schemeClr val="bg1"/>
                </a:solidFill>
              </a:rPr>
              <a:t> Madrasah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rapat-rapat</a:t>
            </a:r>
            <a:r>
              <a:rPr lang="en-US" dirty="0">
                <a:solidFill>
                  <a:schemeClr val="bg1"/>
                </a:solidFill>
              </a:rPr>
              <a:t> Madrasah.</a:t>
            </a:r>
          </a:p>
        </p:txBody>
      </p:sp>
    </p:spTree>
    <p:extLst>
      <p:ext uri="{BB962C8B-B14F-4D97-AF65-F5344CB8AC3E}">
        <p14:creationId xmlns:p14="http://schemas.microsoft.com/office/powerpoint/2010/main" val="12287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1739809" y="687133"/>
            <a:ext cx="7629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KOORDINATOR BIDANG TAHFIDZ</a:t>
            </a: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6708-0C09-4147-B238-A3D495265BE9}"/>
              </a:ext>
            </a:extLst>
          </p:cNvPr>
          <p:cNvSpPr txBox="1"/>
          <p:nvPr/>
        </p:nvSpPr>
        <p:spPr>
          <a:xfrm>
            <a:off x="2069667" y="1564296"/>
            <a:ext cx="83004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Bertanggung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jawab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pencapain</a:t>
            </a:r>
            <a:r>
              <a:rPr lang="en-US" dirty="0">
                <a:solidFill>
                  <a:schemeClr val="bg1"/>
                </a:solidFill>
              </a:rPr>
              <a:t> target-target </a:t>
            </a:r>
            <a:r>
              <a:rPr lang="en-US" dirty="0" err="1">
                <a:solidFill>
                  <a:schemeClr val="bg1"/>
                </a:solidFill>
              </a:rPr>
              <a:t>tahfidz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telah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dirancang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dikurikulum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tahfidz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Melakukan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evaluasi</a:t>
            </a:r>
            <a:r>
              <a:rPr lang="en-US" dirty="0">
                <a:solidFill>
                  <a:schemeClr val="bg1"/>
                </a:solidFill>
              </a:rPr>
              <a:t> dan control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proses </a:t>
            </a:r>
            <a:r>
              <a:rPr lang="en-US" dirty="0" err="1">
                <a:solidFill>
                  <a:schemeClr val="bg1"/>
                </a:solidFill>
              </a:rPr>
              <a:t>berlangsungnya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kegiatan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tahfidz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dilakukan</a:t>
            </a:r>
            <a:r>
              <a:rPr lang="en-US" dirty="0">
                <a:solidFill>
                  <a:schemeClr val="bg1"/>
                </a:solidFill>
              </a:rPr>
              <a:t> oleh </a:t>
            </a:r>
            <a:r>
              <a:rPr lang="en-US" dirty="0" err="1">
                <a:solidFill>
                  <a:schemeClr val="bg1"/>
                </a:solidFill>
              </a:rPr>
              <a:t>seluruh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Mabaiz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Berkoordinasi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dengan</a:t>
            </a:r>
            <a:r>
              <a:rPr lang="en-US" dirty="0">
                <a:solidFill>
                  <a:schemeClr val="bg1"/>
                </a:solidFill>
              </a:rPr>
              <a:t> Waka </a:t>
            </a:r>
            <a:r>
              <a:rPr lang="en-US" dirty="0" err="1">
                <a:solidFill>
                  <a:schemeClr val="bg1"/>
                </a:solidFill>
              </a:rPr>
              <a:t>Kesantrian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penyelenggaraan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pelaksaan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tahfidz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Mabaiz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Membuat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laporan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secara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berkala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Kepala</a:t>
            </a:r>
            <a:r>
              <a:rPr lang="en-US" dirty="0">
                <a:solidFill>
                  <a:schemeClr val="bg1"/>
                </a:solidFill>
              </a:rPr>
              <a:t> Madrasah minimal 1 </a:t>
            </a:r>
            <a:r>
              <a:rPr lang="en-US" dirty="0" err="1">
                <a:solidFill>
                  <a:schemeClr val="bg1"/>
                </a:solidFill>
              </a:rPr>
              <a:t>bulan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sekali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capaian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tahfidz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seluruh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Mabaiz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Memberikan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sanksi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bagi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memenuhi</a:t>
            </a:r>
            <a:r>
              <a:rPr lang="en-US" dirty="0">
                <a:solidFill>
                  <a:schemeClr val="bg1"/>
                </a:solidFill>
              </a:rPr>
              <a:t> target, </a:t>
            </a:r>
            <a:r>
              <a:rPr lang="en-US" dirty="0" err="1">
                <a:solidFill>
                  <a:schemeClr val="bg1"/>
                </a:solidFill>
              </a:rPr>
              <a:t>baik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maupun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bulanan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27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1739809" y="687133"/>
            <a:ext cx="7629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KOORDINATOR </a:t>
            </a:r>
            <a:r>
              <a:rPr lang="en-US" sz="3600" b="1" i="1">
                <a:solidFill>
                  <a:schemeClr val="bg1"/>
                </a:solidFill>
                <a:latin typeface="Bahnschrift Light" panose="020B0502040204020203" pitchFamily="34" charset="0"/>
              </a:rPr>
              <a:t>BIDANG TAHSIN</a:t>
            </a:r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6708-0C09-4147-B238-A3D495265BE9}"/>
              </a:ext>
            </a:extLst>
          </p:cNvPr>
          <p:cNvSpPr txBox="1"/>
          <p:nvPr/>
        </p:nvSpPr>
        <p:spPr>
          <a:xfrm>
            <a:off x="2069667" y="1564296"/>
            <a:ext cx="83004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Bertanggung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jawab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pencapain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target-target tahsin </a:t>
            </a:r>
            <a:r>
              <a:rPr lang="en-US" dirty="0">
                <a:solidFill>
                  <a:schemeClr val="bg1"/>
                </a:solidFill>
              </a:rPr>
              <a:t>yang </a:t>
            </a:r>
            <a:r>
              <a:rPr lang="en-US" dirty="0" err="1">
                <a:solidFill>
                  <a:schemeClr val="bg1"/>
                </a:solidFill>
              </a:rPr>
              <a:t>telah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dirancang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err="1">
                <a:solidFill>
                  <a:schemeClr val="bg1"/>
                </a:solidFill>
              </a:rPr>
              <a:t>dikurikulum</a:t>
            </a:r>
            <a:r>
              <a:rPr lang="en-US">
                <a:solidFill>
                  <a:schemeClr val="bg1"/>
                </a:solidFill>
              </a:rPr>
              <a:t> tahsin.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Melakukan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evaluasi</a:t>
            </a:r>
            <a:r>
              <a:rPr lang="en-US" dirty="0">
                <a:solidFill>
                  <a:schemeClr val="bg1"/>
                </a:solidFill>
              </a:rPr>
              <a:t> dan control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proses </a:t>
            </a:r>
            <a:r>
              <a:rPr lang="en-US" dirty="0" err="1">
                <a:solidFill>
                  <a:schemeClr val="bg1"/>
                </a:solidFill>
              </a:rPr>
              <a:t>berlangsungnya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kegiatan</a:t>
            </a:r>
            <a:r>
              <a:rPr lang="en-US">
                <a:solidFill>
                  <a:schemeClr val="bg1"/>
                </a:solidFill>
              </a:rPr>
              <a:t> tahsin yang dilaksanakan di Mabaiz, baik pada program santri maupun Asatidzah.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err="1">
                <a:solidFill>
                  <a:schemeClr val="bg1"/>
                </a:solidFill>
              </a:rPr>
              <a:t>Berkoordinasi</a:t>
            </a:r>
            <a:r>
              <a:rPr lang="en-US">
                <a:solidFill>
                  <a:schemeClr val="bg1"/>
                </a:solidFill>
              </a:rPr>
              <a:t> dengan dengan Bagian Kurikulum dan Kesantrian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penyelenggaraan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err="1">
                <a:solidFill>
                  <a:schemeClr val="bg1"/>
                </a:solidFill>
              </a:rPr>
              <a:t>pelaksaan</a:t>
            </a:r>
            <a:r>
              <a:rPr lang="en-US">
                <a:solidFill>
                  <a:schemeClr val="bg1"/>
                </a:solidFill>
              </a:rPr>
              <a:t> tahsin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Mabaiz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Membuat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laporan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secara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berkala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Kepala</a:t>
            </a:r>
            <a:r>
              <a:rPr lang="en-US" dirty="0">
                <a:solidFill>
                  <a:schemeClr val="bg1"/>
                </a:solidFill>
              </a:rPr>
              <a:t> Madrasah minimal 1 </a:t>
            </a:r>
            <a:r>
              <a:rPr lang="en-US" dirty="0" err="1">
                <a:solidFill>
                  <a:schemeClr val="bg1"/>
                </a:solidFill>
              </a:rPr>
              <a:t>bulan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sekali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capaian</a:t>
            </a:r>
            <a:r>
              <a:rPr lang="en-US">
                <a:solidFill>
                  <a:schemeClr val="bg1"/>
                </a:solidFill>
              </a:rPr>
              <a:t> tahsin </a:t>
            </a:r>
            <a:r>
              <a:rPr lang="en-US" dirty="0" err="1">
                <a:solidFill>
                  <a:schemeClr val="bg1"/>
                </a:solidFill>
              </a:rPr>
              <a:t>seluruh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Mabaiz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>
                <a:solidFill>
                  <a:schemeClr val="bg1"/>
                </a:solidFill>
              </a:rPr>
              <a:t>Memotivasi, mengakselerasi santri yang belum memenuhi target bahkan memberikan sanksi </a:t>
            </a:r>
            <a:r>
              <a:rPr lang="en-US" dirty="0" err="1">
                <a:solidFill>
                  <a:schemeClr val="bg1"/>
                </a:solidFill>
              </a:rPr>
              <a:t>bagi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memenuhi</a:t>
            </a:r>
            <a:r>
              <a:rPr lang="en-US" dirty="0">
                <a:solidFill>
                  <a:schemeClr val="bg1"/>
                </a:solidFill>
              </a:rPr>
              <a:t> target, </a:t>
            </a:r>
            <a:r>
              <a:rPr lang="en-US" dirty="0" err="1">
                <a:solidFill>
                  <a:schemeClr val="bg1"/>
                </a:solidFill>
              </a:rPr>
              <a:t>baik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maupun</a:t>
            </a:r>
            <a:r>
              <a:rPr lang="en-US">
                <a:solidFill>
                  <a:schemeClr val="bg1"/>
                </a:solidFill>
              </a:rPr>
              <a:t> bulanan.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45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1739809" y="687133"/>
            <a:ext cx="7629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>
                <a:solidFill>
                  <a:schemeClr val="bg1"/>
                </a:solidFill>
                <a:latin typeface="Bahnschrift Light" panose="020B0502040204020203" pitchFamily="34" charset="0"/>
              </a:rPr>
              <a:t>KOORDINATOR BAHASA ARAB</a:t>
            </a:r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6708-0C09-4147-B238-A3D495265BE9}"/>
              </a:ext>
            </a:extLst>
          </p:cNvPr>
          <p:cNvSpPr txBox="1"/>
          <p:nvPr/>
        </p:nvSpPr>
        <p:spPr>
          <a:xfrm>
            <a:off x="2069667" y="1564296"/>
            <a:ext cx="83004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Bertanggung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jawab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pencapain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target-target bahasa arab </a:t>
            </a:r>
            <a:r>
              <a:rPr lang="en-US" dirty="0">
                <a:solidFill>
                  <a:schemeClr val="bg1"/>
                </a:solidFill>
              </a:rPr>
              <a:t>yang </a:t>
            </a:r>
            <a:r>
              <a:rPr lang="en-US" dirty="0" err="1">
                <a:solidFill>
                  <a:schemeClr val="bg1"/>
                </a:solidFill>
              </a:rPr>
              <a:t>telah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dirancang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err="1">
                <a:solidFill>
                  <a:schemeClr val="bg1"/>
                </a:solidFill>
              </a:rPr>
              <a:t>dikurikulum</a:t>
            </a:r>
            <a:r>
              <a:rPr lang="en-US">
                <a:solidFill>
                  <a:schemeClr val="bg1"/>
                </a:solidFill>
              </a:rPr>
              <a:t> bahasa.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Melakukan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evaluasi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dan kontrol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proses </a:t>
            </a:r>
            <a:r>
              <a:rPr lang="en-US" dirty="0" err="1">
                <a:solidFill>
                  <a:schemeClr val="bg1"/>
                </a:solidFill>
              </a:rPr>
              <a:t>berlangsungnya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kegiatan</a:t>
            </a:r>
            <a:r>
              <a:rPr lang="en-US">
                <a:solidFill>
                  <a:schemeClr val="bg1"/>
                </a:solidFill>
              </a:rPr>
              <a:t> bahasa (muhadatsah, hiwar, hafalan mufrodat dll) yang dilaksanakan di Mabaiz, baik pada program santri maupun asatidzah.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err="1">
                <a:solidFill>
                  <a:schemeClr val="bg1"/>
                </a:solidFill>
              </a:rPr>
              <a:t>Berkoordinasi</a:t>
            </a:r>
            <a:r>
              <a:rPr lang="en-US">
                <a:solidFill>
                  <a:schemeClr val="bg1"/>
                </a:solidFill>
              </a:rPr>
              <a:t> dengan dengan Bagian Kurikulum dan Kesantrian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penyelenggaraan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dan pelaksanaan kegiatan bahasa oleh Santri </a:t>
            </a:r>
            <a:r>
              <a:rPr lang="en-US" dirty="0" err="1">
                <a:solidFill>
                  <a:schemeClr val="bg1"/>
                </a:solidFill>
              </a:rPr>
              <a:t>Mabaiz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Membuat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laporan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secara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berkala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Kepala</a:t>
            </a:r>
            <a:r>
              <a:rPr lang="en-US" dirty="0">
                <a:solidFill>
                  <a:schemeClr val="bg1"/>
                </a:solidFill>
              </a:rPr>
              <a:t> Madrasah minimal 1 </a:t>
            </a:r>
            <a:r>
              <a:rPr lang="en-US" dirty="0" err="1">
                <a:solidFill>
                  <a:schemeClr val="bg1"/>
                </a:solidFill>
              </a:rPr>
              <a:t>bulan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sekali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capaian</a:t>
            </a:r>
            <a:r>
              <a:rPr lang="en-US">
                <a:solidFill>
                  <a:schemeClr val="bg1"/>
                </a:solidFill>
              </a:rPr>
              <a:t> bahasa arab </a:t>
            </a:r>
            <a:r>
              <a:rPr lang="en-US" dirty="0" err="1">
                <a:solidFill>
                  <a:schemeClr val="bg1"/>
                </a:solidFill>
              </a:rPr>
              <a:t>seluruh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Mabaiz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>
                <a:solidFill>
                  <a:schemeClr val="bg1"/>
                </a:solidFill>
              </a:rPr>
              <a:t>Memotivasi, mengakselerasi santri yang belum memenuhi target bahkan memberikan sanksi </a:t>
            </a:r>
            <a:r>
              <a:rPr lang="en-US" dirty="0" err="1">
                <a:solidFill>
                  <a:schemeClr val="bg1"/>
                </a:solidFill>
              </a:rPr>
              <a:t>bagi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santri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memenuhi</a:t>
            </a:r>
            <a:r>
              <a:rPr lang="en-US" dirty="0">
                <a:solidFill>
                  <a:schemeClr val="bg1"/>
                </a:solidFill>
              </a:rPr>
              <a:t> target, </a:t>
            </a:r>
            <a:r>
              <a:rPr lang="en-US" dirty="0" err="1">
                <a:solidFill>
                  <a:schemeClr val="bg1"/>
                </a:solidFill>
              </a:rPr>
              <a:t>baik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harian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maupun</a:t>
            </a:r>
            <a:r>
              <a:rPr lang="en-US">
                <a:solidFill>
                  <a:schemeClr val="bg1"/>
                </a:solidFill>
              </a:rPr>
              <a:t> bulanan.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14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1739809" y="687133"/>
            <a:ext cx="7629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BENDAHARA</a:t>
            </a: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6708-0C09-4147-B238-A3D495265BE9}"/>
              </a:ext>
            </a:extLst>
          </p:cNvPr>
          <p:cNvSpPr txBox="1"/>
          <p:nvPr/>
        </p:nvSpPr>
        <p:spPr>
          <a:xfrm>
            <a:off x="2069667" y="1517374"/>
            <a:ext cx="83004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Bertanggung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jawab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terhadap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operasional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keuangan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dilingkungan</a:t>
            </a:r>
            <a:r>
              <a:rPr lang="en-US" dirty="0">
                <a:solidFill>
                  <a:schemeClr val="bg1"/>
                </a:solidFill>
              </a:rPr>
              <a:t> Madrasah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Mengatur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arus</a:t>
            </a:r>
            <a:r>
              <a:rPr lang="en-US" dirty="0">
                <a:solidFill>
                  <a:schemeClr val="bg1"/>
                </a:solidFill>
              </a:rPr>
              <a:t> kas yang </a:t>
            </a:r>
            <a:r>
              <a:rPr lang="en-US" dirty="0" err="1">
                <a:solidFill>
                  <a:schemeClr val="bg1"/>
                </a:solidFill>
              </a:rPr>
              <a:t>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dilingkungan</a:t>
            </a:r>
            <a:r>
              <a:rPr lang="en-US" dirty="0">
                <a:solidFill>
                  <a:schemeClr val="bg1"/>
                </a:solidFill>
              </a:rPr>
              <a:t> Madrasah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Setelah </a:t>
            </a:r>
            <a:r>
              <a:rPr lang="en-US" dirty="0" err="1">
                <a:solidFill>
                  <a:schemeClr val="bg1"/>
                </a:solidFill>
              </a:rPr>
              <a:t>mendapat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disposisi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kepala</a:t>
            </a:r>
            <a:r>
              <a:rPr lang="en-US" dirty="0">
                <a:solidFill>
                  <a:schemeClr val="bg1"/>
                </a:solidFill>
              </a:rPr>
              <a:t> Madrasah, </a:t>
            </a:r>
            <a:r>
              <a:rPr lang="en-US" dirty="0" err="1">
                <a:solidFill>
                  <a:schemeClr val="bg1"/>
                </a:solidFill>
              </a:rPr>
              <a:t>mengeluarkan</a:t>
            </a:r>
            <a:r>
              <a:rPr lang="en-US" dirty="0">
                <a:solidFill>
                  <a:schemeClr val="bg1"/>
                </a:solidFill>
              </a:rPr>
              <a:t> dana </a:t>
            </a:r>
            <a:r>
              <a:rPr lang="en-US" dirty="0" err="1">
                <a:solidFill>
                  <a:schemeClr val="bg1"/>
                </a:solidFill>
              </a:rPr>
              <a:t>operasioal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bersifat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strategis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kemajuan</a:t>
            </a:r>
            <a:r>
              <a:rPr lang="en-US" dirty="0">
                <a:solidFill>
                  <a:schemeClr val="bg1"/>
                </a:solidFill>
              </a:rPr>
              <a:t> Madrasah.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Membukukan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keuangan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secara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tertib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akuntabel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disertai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bukti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traksaksi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setiap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pengeluaran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Membuat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laporan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tertulis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secara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berkala</a:t>
            </a:r>
            <a:r>
              <a:rPr lang="en-US" dirty="0">
                <a:solidFill>
                  <a:schemeClr val="bg1"/>
                </a:solidFill>
              </a:rPr>
              <a:t> minimal 1 </a:t>
            </a:r>
            <a:r>
              <a:rPr lang="en-US" dirty="0" err="1">
                <a:solidFill>
                  <a:schemeClr val="bg1"/>
                </a:solidFill>
              </a:rPr>
              <a:t>bulan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sekali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disampaikan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Kepala</a:t>
            </a:r>
            <a:r>
              <a:rPr lang="en-US" dirty="0">
                <a:solidFill>
                  <a:schemeClr val="bg1"/>
                </a:solidFill>
              </a:rPr>
              <a:t> Madrasah,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disampaikan</a:t>
            </a:r>
            <a:r>
              <a:rPr lang="en-US" dirty="0">
                <a:solidFill>
                  <a:schemeClr val="bg1"/>
                </a:solidFill>
              </a:rPr>
              <a:t> pada </a:t>
            </a:r>
            <a:r>
              <a:rPr lang="en-US" dirty="0" err="1">
                <a:solidFill>
                  <a:schemeClr val="bg1"/>
                </a:solidFill>
              </a:rPr>
              <a:t>rapat-rapat</a:t>
            </a:r>
            <a:r>
              <a:rPr lang="en-US" dirty="0">
                <a:solidFill>
                  <a:schemeClr val="bg1"/>
                </a:solidFill>
              </a:rPr>
              <a:t> Madrasah.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Menyusun </a:t>
            </a:r>
            <a:r>
              <a:rPr lang="en-US" dirty="0" err="1">
                <a:solidFill>
                  <a:schemeClr val="bg1"/>
                </a:solidFill>
              </a:rPr>
              <a:t>Rencana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Anggaran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Pendapatan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Belanja</a:t>
            </a:r>
            <a:r>
              <a:rPr lang="en-US" dirty="0">
                <a:solidFill>
                  <a:schemeClr val="bg1"/>
                </a:solidFill>
              </a:rPr>
              <a:t> Madrasah (RAPBM)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Membuat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laporan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pertanggung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Jawaban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secara</a:t>
            </a:r>
            <a:r>
              <a:rPr lang="en-US" dirty="0">
                <a:solidFill>
                  <a:schemeClr val="bg1"/>
                </a:solidFill>
              </a:rPr>
              <a:t> global </a:t>
            </a:r>
            <a:r>
              <a:rPr lang="en-US" dirty="0" err="1">
                <a:solidFill>
                  <a:schemeClr val="bg1"/>
                </a:solidFill>
              </a:rPr>
              <a:t>pertahun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disampaikan</a:t>
            </a:r>
            <a:r>
              <a:rPr lang="en-US" dirty="0">
                <a:solidFill>
                  <a:schemeClr val="bg1"/>
                </a:solidFill>
              </a:rPr>
              <a:t> pada Agenda IHT/</a:t>
            </a:r>
            <a:r>
              <a:rPr lang="en-US" dirty="0" err="1">
                <a:solidFill>
                  <a:schemeClr val="bg1"/>
                </a:solidFill>
              </a:rPr>
              <a:t>UpGrading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73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E9DFD-0837-44B0-A6B2-84AD302D8B94}"/>
              </a:ext>
            </a:extLst>
          </p:cNvPr>
          <p:cNvSpPr txBox="1"/>
          <p:nvPr/>
        </p:nvSpPr>
        <p:spPr>
          <a:xfrm>
            <a:off x="1739809" y="687133"/>
            <a:ext cx="7629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Bahnschrift Light" panose="020B0502040204020203" pitchFamily="34" charset="0"/>
              </a:rPr>
              <a:t>MUSYRIF/MUSYRIFAH</a:t>
            </a: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endParaRPr lang="en-US" sz="3600" b="1" i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6708-0C09-4147-B238-A3D495265BE9}"/>
              </a:ext>
            </a:extLst>
          </p:cNvPr>
          <p:cNvSpPr txBox="1"/>
          <p:nvPr/>
        </p:nvSpPr>
        <p:spPr>
          <a:xfrm>
            <a:off x="2069667" y="1517374"/>
            <a:ext cx="830043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n-US" sz="2000" dirty="0" err="1">
                <a:solidFill>
                  <a:schemeClr val="bg1"/>
                </a:solidFill>
                <a:latin typeface="tahoma" panose="020B0604030504040204" pitchFamily="34" charset="0"/>
              </a:rPr>
              <a:t>m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emberikan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laporan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secara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berkala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kepada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bagian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kesantrian</a:t>
            </a:r>
            <a:endParaRPr lang="en-US" sz="2000" b="0" i="0" dirty="0">
              <a:solidFill>
                <a:schemeClr val="bg1"/>
              </a:solidFill>
              <a:effectLst/>
              <a:latin typeface="Bitter"/>
            </a:endParaRP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Bertanggungjawab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atas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kelancaran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dan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efisiensi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pelaksanaan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tahfid</a:t>
            </a:r>
            <a:r>
              <a:rPr lang="en-US" sz="2000" dirty="0" err="1">
                <a:solidFill>
                  <a:schemeClr val="bg1"/>
                </a:solidFill>
                <a:latin typeface="tahoma" panose="020B0604030504040204" pitchFamily="34" charset="0"/>
              </a:rPr>
              <a:t>z</a:t>
            </a:r>
            <a:endParaRPr lang="en-US" sz="2000" b="0" i="0" dirty="0">
              <a:solidFill>
                <a:schemeClr val="bg1"/>
              </a:solidFill>
              <a:effectLst/>
              <a:latin typeface="Bitter"/>
            </a:endParaRP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Mengontrol</a:t>
            </a:r>
            <a:r>
              <a:rPr lang="en-US" sz="2000" dirty="0">
                <a:solidFill>
                  <a:schemeClr val="bg1"/>
                </a:solidFill>
                <a:latin typeface="tahoma" panose="020B060403050404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tahoma" panose="020B0604030504040204" pitchFamily="34" charset="0"/>
              </a:rPr>
              <a:t>mengawal</a:t>
            </a:r>
            <a:r>
              <a:rPr lang="en-US" sz="2000" dirty="0">
                <a:solidFill>
                  <a:schemeClr val="bg1"/>
                </a:solidFill>
                <a:latin typeface="tahoma" panose="020B060403050404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tahoma" panose="020B0604030504040204" pitchFamily="34" charset="0"/>
              </a:rPr>
              <a:t>membina</a:t>
            </a:r>
            <a:r>
              <a:rPr lang="en-US" sz="2000" dirty="0">
                <a:solidFill>
                  <a:schemeClr val="bg1"/>
                </a:solidFill>
                <a:latin typeface="tahoma" panose="020B060403050404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tahoma" panose="020B0604030504040204" pitchFamily="34" charset="0"/>
              </a:rPr>
              <a:t>pelaksanaan</a:t>
            </a:r>
            <a:r>
              <a:rPr lang="en-US" sz="2000" dirty="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ahoma" panose="020B0604030504040204" pitchFamily="34" charset="0"/>
              </a:rPr>
              <a:t>tahfidz</a:t>
            </a:r>
            <a:r>
              <a:rPr lang="en-US" sz="2000" dirty="0">
                <a:solidFill>
                  <a:schemeClr val="bg1"/>
                </a:solidFill>
                <a:latin typeface="tahoma" panose="020B0604030504040204" pitchFamily="34" charset="0"/>
              </a:rPr>
              <a:t> di Asrama</a:t>
            </a:r>
            <a:endParaRPr lang="en-US" sz="2000" b="0" i="0" dirty="0">
              <a:solidFill>
                <a:schemeClr val="bg1"/>
              </a:solidFill>
              <a:effectLst/>
              <a:latin typeface="Bitter"/>
            </a:endParaRP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n-US" sz="2000" dirty="0" err="1">
                <a:solidFill>
                  <a:schemeClr val="bg1"/>
                </a:solidFill>
                <a:latin typeface="tahoma" panose="020B0604030504040204" pitchFamily="34" charset="0"/>
              </a:rPr>
              <a:t>M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enegurnya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dan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memberikan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sanki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atas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koordinasi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bagian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ahoma" panose="020B0604030504040204" pitchFamily="34" charset="0"/>
              </a:rPr>
              <a:t>kesantrian</a:t>
            </a:r>
            <a:r>
              <a:rPr lang="en-US" sz="2000" dirty="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ahoma" panose="020B0604030504040204" pitchFamily="34" charset="0"/>
              </a:rPr>
              <a:t>dengan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bijaksana</a:t>
            </a:r>
            <a:endParaRPr lang="en-US" sz="2000" b="0" i="0" dirty="0">
              <a:solidFill>
                <a:schemeClr val="bg1"/>
              </a:solidFill>
              <a:effectLst/>
              <a:latin typeface="Bitter"/>
            </a:endParaRP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Mendukung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program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peningkatan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bahasa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Arab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dilingkungan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Asrama</a:t>
            </a:r>
            <a:endParaRPr lang="en-US" sz="2000" b="0" i="0" dirty="0">
              <a:solidFill>
                <a:schemeClr val="bg1"/>
              </a:solidFill>
              <a:effectLst/>
              <a:latin typeface="Bitter"/>
            </a:endParaRP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Menjadi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qudwah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dan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uswatun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hasanah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bagi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santri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dalam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selruh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pelaksanaan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ahoma" panose="020B0604030504040204" pitchFamily="34" charset="0"/>
              </a:rPr>
              <a:t> program di Madrasah.</a:t>
            </a:r>
            <a:endParaRPr lang="en-US" sz="2000" b="0" i="0" dirty="0">
              <a:solidFill>
                <a:schemeClr val="bg1"/>
              </a:solidFill>
              <a:effectLst/>
              <a:latin typeface="Bitter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72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843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Bahnschrift Light</vt:lpstr>
      <vt:lpstr>Bitter</vt:lpstr>
      <vt:lpstr>Calibri</vt:lpstr>
      <vt:lpstr>Calibri Light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Admin</cp:lastModifiedBy>
  <cp:revision>24</cp:revision>
  <dcterms:created xsi:type="dcterms:W3CDTF">2021-07-21T20:33:07Z</dcterms:created>
  <dcterms:modified xsi:type="dcterms:W3CDTF">2024-07-06T23:23:13Z</dcterms:modified>
</cp:coreProperties>
</file>